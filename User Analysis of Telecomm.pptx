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8" r:id="rId14"/>
    <p:sldId id="269" r:id="rId15"/>
    <p:sldId id="266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5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0580" y="639097"/>
            <a:ext cx="6997959" cy="3686015"/>
          </a:xfrm>
        </p:spPr>
        <p:txBody>
          <a:bodyPr>
            <a:noAutofit/>
          </a:bodyPr>
          <a:lstStyle/>
          <a:p>
            <a:pPr algn="ctr"/>
            <a:br>
              <a:rPr lang="en-IN" sz="5400" dirty="0"/>
            </a:br>
            <a:br>
              <a:rPr lang="en-IN" sz="5400" dirty="0"/>
            </a:br>
            <a:r>
              <a:rPr lang="en-US" sz="5400" dirty="0"/>
              <a:t>Customer Analytics </a:t>
            </a:r>
            <a:br>
              <a:rPr lang="en-US" sz="5400" dirty="0"/>
            </a:br>
            <a:r>
              <a:rPr lang="en-US" sz="5400" dirty="0"/>
              <a:t>in the Telecommunication Industry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7754" y="4672739"/>
            <a:ext cx="5636107" cy="1021498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 :</a:t>
            </a:r>
          </a:p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Saayan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samanta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Best Website Development Company in India | April 2026">
            <a:extLst>
              <a:ext uri="{FF2B5EF4-FFF2-40B4-BE49-F238E27FC236}">
                <a16:creationId xmlns:a16="http://schemas.microsoft.com/office/drawing/2014/main" id="{0A280539-C35E-568B-E071-39FF27A05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82" y="760295"/>
            <a:ext cx="2793030" cy="116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2E693-8F1A-FB5F-A0B3-DF8CB005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50100-638D-4BDE-62C0-EA4FE04B0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13992"/>
            <a:ext cx="7643597" cy="3573244"/>
          </a:xfrm>
        </p:spPr>
        <p:txBody>
          <a:bodyPr/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 Identify customer segments and usage patterns.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 Understand potential service-quality issues.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 Support customer retention and network improvement.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 Assess the operational growth opportunities relevant to acquisition.</a:t>
            </a:r>
          </a:p>
          <a:p>
            <a:endParaRPr lang="en-IN" dirty="0"/>
          </a:p>
        </p:txBody>
      </p:sp>
      <p:pic>
        <p:nvPicPr>
          <p:cNvPr id="5" name="Graphic 4" descr="Bullseye with solid fill">
            <a:extLst>
              <a:ext uri="{FF2B5EF4-FFF2-40B4-BE49-F238E27FC236}">
                <a16:creationId xmlns:a16="http://schemas.microsoft.com/office/drawing/2014/main" id="{DF7B2BAF-1EC8-7EEA-01BA-E38D39C7E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40877" y="2108201"/>
            <a:ext cx="3451123" cy="345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1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3CF78-E6AC-1C43-905A-A1D1A206D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2E3120-0062-6B75-6DDC-054E13FA0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65421"/>
              </p:ext>
            </p:extLst>
          </p:nvPr>
        </p:nvGraphicFramePr>
        <p:xfrm>
          <a:off x="1096963" y="2525554"/>
          <a:ext cx="100584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76938008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106728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954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Approximately 150,001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0739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83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Telecom xDR / session-level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196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identifier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MSISDN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026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 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RTT, TCP retransmission, throughput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02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Usage 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Download, upload, application traffic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062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Handset type and manufacturer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199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02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AF24-DF5E-86C2-DDE4-42EF7BA9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4142D0-2552-6262-CC8D-B2A4D46AA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039" y="2168137"/>
            <a:ext cx="4446744" cy="3822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702D10-A695-CBCA-E478-22D048F5D42B}"/>
              </a:ext>
            </a:extLst>
          </p:cNvPr>
          <p:cNvSpPr txBox="1"/>
          <p:nvPr/>
        </p:nvSpPr>
        <p:spPr>
          <a:xfrm>
            <a:off x="510410" y="1953170"/>
            <a:ext cx="69886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Customer &amp; Session Details:</a:t>
            </a:r>
            <a:r>
              <a:rPr lang="en-IN" sz="2000" dirty="0"/>
              <a:t> MSISDN, IMSI, Bearer ID, session start/end time, and session duration. </a:t>
            </a:r>
          </a:p>
          <a:p>
            <a:pPr marL="342900" lvl="0" indent="-34290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endParaRPr lang="en-IN" sz="1000" dirty="0"/>
          </a:p>
          <a:p>
            <a:pPr marL="342900" lvl="0" indent="-34290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Device Information: </a:t>
            </a:r>
            <a:r>
              <a:rPr lang="en-IN" sz="2000" dirty="0"/>
              <a:t>IMEI, handset manufacturer, and handset type for understanding device-level usage patterns. </a:t>
            </a:r>
          </a:p>
          <a:p>
            <a:pPr marL="342900" lvl="0" indent="-34290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endParaRPr lang="en-IN" sz="1000" dirty="0"/>
          </a:p>
          <a:p>
            <a:pPr marL="342900" lvl="0" indent="-34290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Network Performance: </a:t>
            </a:r>
            <a:r>
              <a:rPr lang="en-IN" sz="2000" dirty="0"/>
              <a:t>RTT, TCP retransmission, and average DL/UL throughput to evaluate network quality and performance. </a:t>
            </a:r>
          </a:p>
          <a:p>
            <a:pPr marL="342900" lvl="0" indent="-34290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endParaRPr lang="en-IN" sz="1000" dirty="0"/>
          </a:p>
          <a:p>
            <a:pPr marL="342900" lvl="0" indent="-34290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Data Consumption: </a:t>
            </a:r>
            <a:r>
              <a:rPr lang="en-IN" sz="2000" dirty="0"/>
              <a:t>Total Download (DL) and Upload (UL) volumes to measure customer data usage. </a:t>
            </a:r>
          </a:p>
          <a:p>
            <a:pPr marL="342900" lvl="0" indent="-34290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endParaRPr lang="en-IN" sz="1000" dirty="0"/>
          </a:p>
          <a:p>
            <a:pPr marL="342900" lvl="0" indent="-34290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Application Usage: </a:t>
            </a:r>
            <a:r>
              <a:rPr lang="en-IN" sz="2000" dirty="0"/>
              <a:t>Data consumption across YouTube, Netflix, Social Media, Google, Email, Gaming, and other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4162530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F980-F3F0-C7EA-5AB9-08BD6AE01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459" y="263529"/>
            <a:ext cx="11290041" cy="1450757"/>
          </a:xfrm>
        </p:spPr>
        <p:txBody>
          <a:bodyPr/>
          <a:lstStyle/>
          <a:p>
            <a:r>
              <a:rPr lang="en-IN" dirty="0"/>
              <a:t>Missing data and Outlier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2B5BF-6035-E426-0635-91893AC59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239" y="1977573"/>
            <a:ext cx="5953553" cy="4311260"/>
          </a:xfrm>
        </p:spPr>
        <p:txBody>
          <a:bodyPr/>
          <a:lstStyle/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 High Missing Values: Network and technical features such as RTT, TCP retransmission, HTTP traffic, and throughput contain significant missing data.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 Critical Missing Feature: Nb of sec with 37500B &lt; Vol UL has the highest missing count of 130,254 records.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 Significant Outliers: Outliers are mainly concentrated in throughput, RTT, TCP retransmission, and activity-duration features.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 Application Data Quality: Application-level features such as YouTube, Netflix, Gaming, Social Media, Google, and Email show no detected outliers.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BBBD5-4D7B-F19A-7815-636CF6749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606" y="2190037"/>
            <a:ext cx="2805027" cy="4098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42AF5A-6FA7-60D9-F08F-CDD4C9CC92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150"/>
          <a:stretch>
            <a:fillRect/>
          </a:stretch>
        </p:blipFill>
        <p:spPr>
          <a:xfrm>
            <a:off x="9569447" y="2052218"/>
            <a:ext cx="2245687" cy="424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9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6AB7-7AE7-7F84-5A03-1F712D79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19" y="451023"/>
            <a:ext cx="10916816" cy="1450757"/>
          </a:xfrm>
        </p:spPr>
        <p:txBody>
          <a:bodyPr/>
          <a:lstStyle/>
          <a:p>
            <a:r>
              <a:rPr lang="en-IN" dirty="0"/>
              <a:t>Customer Overview &amp; Usage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B92C-BF51-E57F-0723-692E4ED8D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3" y="2090057"/>
            <a:ext cx="5592147" cy="3779035"/>
          </a:xfrm>
        </p:spPr>
        <p:txBody>
          <a:bodyPr/>
          <a:lstStyle/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Users consume a significant portion of their mobile data through gaming activities, making gaming a major contributor to overall data consumption compared with social media, YouTube, and other applications.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FD27A-2DB4-B561-894E-9F00E0CD7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370" y="2172732"/>
            <a:ext cx="5882960" cy="3631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FAB1E1-0FE5-BC7A-F298-F3A1E628D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567" y="3979574"/>
            <a:ext cx="3795089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96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8ADF7-2340-01DC-DB15-3B68C53A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407901"/>
            <a:ext cx="10898155" cy="1450757"/>
          </a:xfrm>
        </p:spPr>
        <p:txBody>
          <a:bodyPr/>
          <a:lstStyle/>
          <a:p>
            <a:r>
              <a:rPr lang="en-IN" dirty="0"/>
              <a:t>Customer Overview &amp; Usage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23BC1-D965-512B-93D6-1B3E8AE12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6" y="2108201"/>
            <a:ext cx="6083558" cy="3919375"/>
          </a:xfrm>
        </p:spPr>
        <p:txBody>
          <a:bodyPr>
            <a:normAutofit/>
          </a:bodyPr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Users are divided into 10 deciles, with each group representing approximately 10% of valid users.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Decile 0 represents users with shorter session durations,  while Decile 9 represents users with the longest sessions.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Decile 9 records session durations ranging from 259.2   to 4,135.31 seconds.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46605-D417-FFE8-673B-1173F437A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963" y="2451430"/>
            <a:ext cx="5270380" cy="30816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D4DA82-2A0D-41A9-C71A-CFE6A4C9B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87" y="4920218"/>
            <a:ext cx="5785446" cy="14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664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1027-6298-D5AB-B855-087B7E7E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5142E-E598-EEBD-6DFB-7CA3B3F45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22" y="2210838"/>
            <a:ext cx="4646644" cy="3760891"/>
          </a:xfrm>
        </p:spPr>
        <p:txBody>
          <a:bodyPr/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IN" dirty="0"/>
              <a:t>The high traffic contribution from gaming highlights gaming users as an important segment for data-plan and service optimization.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IN" dirty="0"/>
              <a:t>Users with high gaming or video consumption can be offered higher-data plans, add-on packs, or premium data bundles based on their usage patterns.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3A192E-EA18-BB36-708C-EB29635B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543" y="2108201"/>
            <a:ext cx="6295255" cy="412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6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EAC8-3E33-51F0-9670-82E29728F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E510E-E939-8559-42A1-C0D226E83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98870"/>
            <a:ext cx="10248744" cy="3760891"/>
          </a:xfrm>
        </p:spPr>
        <p:txBody>
          <a:bodyPr>
            <a:normAutofit/>
          </a:bodyPr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Based on </a:t>
            </a:r>
            <a:r>
              <a:rPr lang="en-IN" dirty="0" err="1"/>
              <a:t>Avg</a:t>
            </a:r>
            <a:r>
              <a:rPr lang="en-IN" dirty="0"/>
              <a:t> Sessions, </a:t>
            </a:r>
            <a:r>
              <a:rPr lang="en-IN" dirty="0" err="1"/>
              <a:t>Avg</a:t>
            </a:r>
            <a:r>
              <a:rPr lang="en-IN" dirty="0"/>
              <a:t> Session Duration, and </a:t>
            </a:r>
            <a:r>
              <a:rPr lang="en-IN" dirty="0" err="1"/>
              <a:t>Avg</a:t>
            </a:r>
            <a:r>
              <a:rPr lang="en-IN" dirty="0"/>
              <a:t> Traffic, the four clusters are created to differentiate levels of user engagement.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Customer engagement increases progressively from Cluster 0 to Cluster 3, with higher session frequency accompanied by longer usage duration and greater data consumption.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Cluster 2 can be prioritized for revenue expansion because it combines high engagement with a sizeable customer base, while Cluster 3 represents a smaller high-value segment suitable for premium offerings.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DC8FC-54CD-FA08-CCBB-7C7C21D92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475" y="4637701"/>
            <a:ext cx="6991611" cy="158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32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ADEB-C786-0D1E-01AD-BFD727A7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65E02-164A-A8BB-9B64-4CA330279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104" y="2108201"/>
            <a:ext cx="6208589" cy="3760891"/>
          </a:xfrm>
        </p:spPr>
        <p:txBody>
          <a:bodyPr/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TCP DL Retransmission: High retransmission in 31,608 records may cause download delays, buffering, and inconsistent browsing/streaming experiences.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TCP UL Retransmission: 28,940 records show notable upload retransmission, potentially affecting uploads, video calls, and real-time applications.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dirty="0" err="1"/>
              <a:t>Avg</a:t>
            </a:r>
            <a:r>
              <a:rPr lang="en-IN" dirty="0"/>
              <a:t> RTT DL: 17,792 records have a high RTT of 102.5 </a:t>
            </a:r>
            <a:r>
              <a:rPr lang="en-IN" dirty="0" err="1"/>
              <a:t>ms</a:t>
            </a:r>
            <a:r>
              <a:rPr lang="en-IN" dirty="0"/>
              <a:t>, which can result in slower response times and reduced responsiveness.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5835B5-A022-F776-47D8-ABCDA55C8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241" y="2108201"/>
            <a:ext cx="2293606" cy="23545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8C8E9E-7442-97CC-F9C6-B62790C03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458" y="2108201"/>
            <a:ext cx="2332653" cy="2354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7C4F05-7395-4F7B-67E5-6EA0BCF9E1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549" y="4563711"/>
            <a:ext cx="2293606" cy="176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5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D29A8-E746-5BE7-56E1-A34D5BA4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30B31-B1BF-14F9-20A4-4A1326958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096" y="2117532"/>
            <a:ext cx="6133945" cy="3760891"/>
          </a:xfrm>
        </p:spPr>
        <p:txBody>
          <a:bodyPr/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dirty="0" err="1"/>
              <a:t>Avg</a:t>
            </a:r>
            <a:r>
              <a:rPr lang="en-IN" dirty="0"/>
              <a:t> RTT UL: Most users show low RTT, with 5 </a:t>
            </a:r>
            <a:r>
              <a:rPr lang="en-IN" dirty="0" err="1"/>
              <a:t>ms</a:t>
            </a:r>
            <a:r>
              <a:rPr lang="en-IN" dirty="0"/>
              <a:t> recorded in 42,474 records, indicating generally responsive upload communication.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dirty="0" err="1"/>
              <a:t>Avg</a:t>
            </a:r>
            <a:r>
              <a:rPr lang="en-IN" dirty="0"/>
              <a:t> Bearer TP DL: The wide variation from very low throughput to 49,212 kbps indicates uneven download experience across users.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dirty="0" err="1"/>
              <a:t>Avg</a:t>
            </a:r>
            <a:r>
              <a:rPr lang="en-IN" dirty="0"/>
              <a:t> Bearer TP UL: The variation in upload throughput indicates that some users may experience slow uploads and reduced real-time communication quality.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D0EE0-478E-5CFD-CC39-E03F16805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143" y="2591771"/>
            <a:ext cx="2203269" cy="2916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017A3F-7114-C6B3-72E2-1B4E053A6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98" y="4154200"/>
            <a:ext cx="1855320" cy="19957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BAFDB2-1892-E44D-C83E-D175126AD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98" y="2005566"/>
            <a:ext cx="1855320" cy="204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8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EED9-D733-8EA3-73D1-5493520BB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FF33C-FAE2-A5D7-3EDA-9D162C715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23" y="1930919"/>
            <a:ext cx="10677953" cy="3760891"/>
          </a:xfrm>
        </p:spPr>
        <p:txBody>
          <a:bodyPr/>
          <a:lstStyle/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The four clusters were formed using Average Sessions, Average Session Duration, and Average Traffic to segment customers based on their levels of user engagement.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The clusters reveal different network-experience patterns: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Cluster 1 requires attention to retransmission and network load.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Cluster 2 represents a lower-throughput/high-latency segment.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Cluster 3 combines strong throughput with elevated retransmissions.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C12FC-EFBD-33DF-B0E3-8A01D1AE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6" y="4750435"/>
            <a:ext cx="9789147" cy="155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15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CF4DA-1135-60AC-2394-1BB19FF20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Satisfaction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80986-9A29-4F93-1860-BEB116433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2118049"/>
            <a:ext cx="7147248" cy="4133459"/>
          </a:xfrm>
        </p:spPr>
        <p:txBody>
          <a:bodyPr>
            <a:normAutofit/>
          </a:bodyPr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Satisfaction Score = (Engagement Score + Experience Score) / 2.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Top 10 customers have combined scores ranging from 14.928 to 21.847, enabling the business to identify customers requiring further customer-level analysis.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Combining engagement and experience provides a single framework for prioritizing customer-level analysis rather than evaluating usage and network experience separately.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The ranking can be used to identify customer groups for further investigation, personalized service strategies, and deeper satisfaction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C78BD8-60C1-4583-D2AE-41E207C2C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385" y="2454833"/>
            <a:ext cx="4158134" cy="295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985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A056-C763-B64F-AC56-06CF9AF3A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Satisfaction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9D184-5020-9C09-0895-D9D5515E8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105" y="2089539"/>
            <a:ext cx="6040638" cy="4152641"/>
          </a:xfrm>
        </p:spPr>
        <p:txBody>
          <a:bodyPr>
            <a:normAutofit/>
          </a:bodyPr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Prioritize high-engagement customers for retention and premium service offerings.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Identify experience issues among highly active users to prevent dissatisfaction and potential churn.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Personalize plans and offers based on individual engagement and usage patterns.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Use the ranking for targeted intervention, combining customer behaviour with network-performance insights.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Enhance future scoring by incorporating revenue, ARPU, churn, and complaints for stronger business decisions.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EF473-DA5E-E33C-C293-4446EDD03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841" y="2410796"/>
            <a:ext cx="5598338" cy="324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51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7D08-6854-D988-4A6D-78C726FAE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Growth Potential of the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E3C31-1C04-0E1F-7B34-DB6BC8241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2006082"/>
            <a:ext cx="5498841" cy="4264089"/>
          </a:xfrm>
        </p:spPr>
        <p:txBody>
          <a:bodyPr>
            <a:normAutofit/>
          </a:bodyPr>
          <a:lstStyle/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The analysis indicates positive growth potential through customer retention, revenue expansion, network optimization, and data-driven operations, though the company may be able to improve performance and customer value: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Customer Retention: Identify less-engaged customers and address their usage or service issues to improve retention and reduce potential churn.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Revenue Growth: Target highly engaged customers with personalized data plans, add-ons, and services based on their application and traffic usage patterns.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33223-07DA-FD11-7830-36C089AD3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38139"/>
            <a:ext cx="5884908" cy="288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5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863E-FDE6-049C-3E8B-F19BAD54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Growth Potential of the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19D73-01CD-1E84-26C1-5ECAFF55B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748" y="2145523"/>
            <a:ext cx="4435773" cy="4227285"/>
          </a:xfrm>
        </p:spPr>
        <p:txBody>
          <a:bodyPr>
            <a:normAutofit lnSpcReduction="10000"/>
          </a:bodyPr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Network Optimization: Improve high-latency and high-retransmission areas to enhance customer experience and support higher-quality service usage.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Customer Experience: Use engagement and network-performance insights to identify service gaps and improve overall user experience.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Data-Driven Growth: Continuously monitor customer segments, usage patterns, and network performance to support targeted and informed business decisions.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7F8FF-6D9F-D08A-CC67-C4F58078D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491" y="2072519"/>
            <a:ext cx="6811675" cy="390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49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1A13-F9C8-E60C-3133-3FA913880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 Limitations for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82E29-2E95-B2BC-BBEE-8E9BDDB4C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363" y="2052217"/>
            <a:ext cx="5545494" cy="423661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Data Limitations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Dataset covers a specific period and may not reflect current or future performance.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Missing values, outliers, and data inconsistencies may affect results. </a:t>
            </a:r>
          </a:p>
          <a:p>
            <a:r>
              <a:rPr lang="en-IN" b="1" dirty="0"/>
              <a:t>Business Limitations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Dataset lacks profitability, market share, CAPEX, and financial data.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No ROI or financial valuation was performed.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Business opportunities require validation with financial and operational data.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506189-356B-B2DB-7BDC-4897B01798BA}"/>
              </a:ext>
            </a:extLst>
          </p:cNvPr>
          <p:cNvSpPr txBox="1">
            <a:spLocks/>
          </p:cNvSpPr>
          <p:nvPr/>
        </p:nvSpPr>
        <p:spPr>
          <a:xfrm>
            <a:off x="6615404" y="2108201"/>
            <a:ext cx="4991878" cy="4124648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Analytical Limitations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K-Means results depend on feature selection, scaling, and cluster count.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Cluster labels indicate relative patterns, not absolute quality levels.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Satisfaction score is a proxy based on cluster distances, not actual survey data.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Regression predicts a constructed score, not future satisfaction. </a:t>
            </a:r>
          </a:p>
          <a:p>
            <a:pPr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Observed relationships do not establish causation.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866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AFA1-990B-5485-BE52-F45D9CDD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Acquisition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02ECE-2E22-3878-0392-9720CF2A5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102" y="2108201"/>
            <a:ext cx="10664890" cy="3760891"/>
          </a:xfrm>
        </p:spPr>
        <p:txBody>
          <a:bodyPr>
            <a:normAutofit/>
          </a:bodyPr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Growth Potential: The analysis identifies opportunities to improve customer engagement, network experience, and retention.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Financial Uncertainty: Available data does not establish the acquisition’s potential financial return.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Recommendation: Proceed with further acquisition evaluation, rather than immediate purchase approval.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Due Diligence: Validate financial, technical, customer, and legal aspects before making the final investment decision. 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Final Takeaway: Operational potential is evident, but acquisition viability requires comprehensive due diligence.</a:t>
            </a:r>
          </a:p>
        </p:txBody>
      </p:sp>
    </p:spTree>
    <p:extLst>
      <p:ext uri="{BB962C8B-B14F-4D97-AF65-F5344CB8AC3E}">
        <p14:creationId xmlns:p14="http://schemas.microsoft.com/office/powerpoint/2010/main" val="4134219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1400-4B13-BD89-A0AB-1E46ACA49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EFFA8-00C1-8D92-0EED-AB7BFDED0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40592"/>
            <a:ext cx="6507169" cy="3760891"/>
          </a:xfrm>
        </p:spPr>
        <p:txBody>
          <a:bodyPr/>
          <a:lstStyle/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Telecom </a:t>
            </a:r>
            <a:r>
              <a:rPr lang="en-IN" dirty="0" err="1"/>
              <a:t>xDR</a:t>
            </a:r>
            <a:r>
              <a:rPr lang="en-IN" dirty="0"/>
              <a:t> dataset supplied for the project.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Project data preprocessing and exploratory analysis.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Scikit-learn documentation — K-Means clustering, Random Forest Regression, and evaluation metrics.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Pandas documentation — data aggregation and analysis.</a:t>
            </a:r>
          </a:p>
          <a:p>
            <a:pPr lvl="0"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IN" dirty="0"/>
              <a:t> Matplotlib and Seaborn documentation — data visualization.</a:t>
            </a:r>
          </a:p>
          <a:p>
            <a:endParaRPr lang="en-IN" dirty="0"/>
          </a:p>
        </p:txBody>
      </p:sp>
      <p:pic>
        <p:nvPicPr>
          <p:cNvPr id="5" name="Graphic 4" descr="Classroom with solid fill">
            <a:extLst>
              <a:ext uri="{FF2B5EF4-FFF2-40B4-BE49-F238E27FC236}">
                <a16:creationId xmlns:a16="http://schemas.microsoft.com/office/drawing/2014/main" id="{4205ABC4-9895-536B-B2FD-9D2595C84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4943" y="2240592"/>
            <a:ext cx="3488404" cy="348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56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" name="Picture 4" descr="PPT Flat Thank You Slide for Presentation">
            <a:extLst>
              <a:ext uri="{FF2B5EF4-FFF2-40B4-BE49-F238E27FC236}">
                <a16:creationId xmlns:a16="http://schemas.microsoft.com/office/drawing/2014/main" id="{77A8049D-036B-E978-6592-522C3B45B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-2" b="-2"/>
          <a:stretch>
            <a:fillRect/>
          </a:stretch>
        </p:blipFill>
        <p:spPr bwMode="auto">
          <a:xfrm>
            <a:off x="328486" y="319441"/>
            <a:ext cx="11530584" cy="59325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{8A6F3A09-54A4-4F56-B835-8F299A94464E}TFf0a5ceae-4542-492d-822e-d65a94fb0e1e3b562c5a_win32-009a0557e699</Template>
  <TotalTime>777</TotalTime>
  <Words>1328</Words>
  <Application>Microsoft Office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Bookman Old Style</vt:lpstr>
      <vt:lpstr>Calibri</vt:lpstr>
      <vt:lpstr>Franklin Gothic Book</vt:lpstr>
      <vt:lpstr>Wingdings</vt:lpstr>
      <vt:lpstr>Custom</vt:lpstr>
      <vt:lpstr>  Customer Analytics  in the Telecommunication Industry </vt:lpstr>
      <vt:lpstr>Project Objective</vt:lpstr>
      <vt:lpstr>Dataset Overview</vt:lpstr>
      <vt:lpstr>Dataset Overview</vt:lpstr>
      <vt:lpstr>Missing data and Outlier identification</vt:lpstr>
      <vt:lpstr>Customer Overview &amp; Usage Patterns</vt:lpstr>
      <vt:lpstr>Customer Overview &amp; Usage Patterns</vt:lpstr>
      <vt:lpstr>Customer Engagement</vt:lpstr>
      <vt:lpstr>Customer Engagement</vt:lpstr>
      <vt:lpstr>Customer Experience</vt:lpstr>
      <vt:lpstr>Customer Experience</vt:lpstr>
      <vt:lpstr>Customer Experience</vt:lpstr>
      <vt:lpstr>Customer Satisfaction</vt:lpstr>
      <vt:lpstr>Customer Satisfaction</vt:lpstr>
      <vt:lpstr>Growth Potential of the Company</vt:lpstr>
      <vt:lpstr>Growth Potential of the Company</vt:lpstr>
      <vt:lpstr>   Limitations for analysis </vt:lpstr>
      <vt:lpstr>Acquisition Recommendation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Saayan Samanta</dc:creator>
  <cp:lastModifiedBy>Saayan Samanta</cp:lastModifiedBy>
  <cp:revision>11</cp:revision>
  <dcterms:created xsi:type="dcterms:W3CDTF">2026-09-30T16:01:06Z</dcterms:created>
  <dcterms:modified xsi:type="dcterms:W3CDTF">2026-10-01T15:08:50Z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